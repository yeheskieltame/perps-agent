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(static grid)</c:v>
                </c:pt>
              </c:strCache>
            </c:strRef>
          </c:tx>
          <c:spPr>
            <a:solidFill>
              <a:srgbClr val="9AA7A4"/>
            </a:solidFill>
            <a:ln w="38100" cap="flat">
              <a:solidFill>
                <a:srgbClr val="9AA7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7A4"/>
              </a:solidFill>
              <a:ln w="9525" cap="flat">
                <a:solidFill>
                  <a:srgbClr val="9AA7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99</c:v>
                </c:pt>
                <c:pt idx="2">
                  <c:v>101</c:v>
                </c:pt>
                <c:pt idx="3">
                  <c:v>98</c:v>
                </c:pt>
                <c:pt idx="4">
                  <c:v>100</c:v>
                </c:pt>
                <c:pt idx="5">
                  <c:v>97</c:v>
                </c:pt>
                <c:pt idx="6">
                  <c:v>99</c:v>
                </c:pt>
                <c:pt idx="7">
                  <c:v>98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Aperture (memory-on)</c:v>
                </c:pt>
              </c:strCache>
            </c:strRef>
          </c:tx>
          <c:spPr>
            <a:solidFill>
              <a:srgbClr val="009E88"/>
            </a:solidFill>
            <a:ln w="38100" cap="flat">
              <a:solidFill>
                <a:srgbClr val="009E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9E88"/>
              </a:solidFill>
              <a:ln w="9525" cap="flat">
                <a:solidFill>
                  <a:srgbClr val="009E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102</c:v>
                </c:pt>
                <c:pt idx="2">
                  <c:v>103</c:v>
                </c:pt>
                <c:pt idx="3">
                  <c:v>106</c:v>
                </c:pt>
                <c:pt idx="4">
                  <c:v>108</c:v>
                </c:pt>
                <c:pt idx="5">
                  <c:v>111</c:v>
                </c:pt>
                <c:pt idx="6">
                  <c:v>114</c:v>
                </c:pt>
                <c:pt idx="7">
                  <c:v>118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94"/>
        </c:scaling>
        <c:delete val="0"/>
        <c:axPos val="l"/>
        <c:majorGridlines>
          <c:spPr>
            <a:ln w="6350" cap="flat">
              <a:solidFill>
                <a:srgbClr val="DCEA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30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4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10515600" cy="4343400"/>
          </a:xfrm>
          <a:prstGeom prst="roundRect">
            <a:avLst>
              <a:gd name="adj" fmla="val 4211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4440" y="1783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MANTLE · AI AWAKENING  —  AI · TRADING &amp; STRATEGY (BGA)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70432" y="21031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Perps Agent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34440" y="356616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verifiable, self-improving grid-trading agent. It trades on Bybit, and thinks, learns, and proves on Mantle.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34440" y="4800600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009E88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4800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· Bybit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4800600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009E88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4800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· on-chain memory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4800600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009E88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4800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· Mantle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x.com/perpsagent  ·  Demo Day · Jul 2–3,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CEX trading bots are black boxes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66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9696"/>
            <a:ext cx="512064" cy="512064"/>
          </a:xfrm>
          <a:prstGeom prst="ellipse">
            <a:avLst/>
          </a:prstGeom>
          <a:solidFill>
            <a:srgbClr val="009E88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396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278892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PnL is just screenshots. No neutral way to trust a track record.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16636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66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7688" y="2139696"/>
            <a:ext cx="512064" cy="512064"/>
          </a:xfrm>
          <a:prstGeom prst="ellipse">
            <a:avLst/>
          </a:prstGeom>
          <a:solidFill>
            <a:srgbClr val="009E88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768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1396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asymmetry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65976" y="278892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share research; retail runs static bots, blind to what works.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16636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66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379976"/>
            <a:ext cx="512064" cy="512064"/>
          </a:xfrm>
          <a:prstGeom prst="ellipse">
            <a:avLst/>
          </a:prstGeom>
          <a:solidFill>
            <a:srgbClr val="009E88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4379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37997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Fragile grids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" y="502920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grids farm a range, then get run over in a trend.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16636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66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7688" y="4379976"/>
            <a:ext cx="512064" cy="512064"/>
          </a:xfrm>
          <a:prstGeom prst="ellipse">
            <a:avLst/>
          </a:prstGeom>
          <a:solidFill>
            <a:srgbClr val="009E88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47688" y="4379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37997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memory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65976" y="5029200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discard every lesson. Nothing compounds — and nothing is shared.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Verifiable Learning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1975104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566661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0815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630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· Elfa · Nansen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9504" y="2788920"/>
            <a:ext cx="1975104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86000"/>
            </a:srgbClr>
          </a:solidFill>
          <a:ln w="25400">
            <a:solidFill>
              <a:srgbClr val="009E88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80944" y="30815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80944" y="3630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Mantle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928" y="2788920"/>
            <a:ext cx="1975104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86000"/>
            </a:srgbClr>
          </a:solidFill>
          <a:ln w="25400">
            <a:solidFill>
              <a:srgbClr val="009E88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30368" y="30815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 + COMMIT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30368" y="3630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Mantle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88352" y="2788920"/>
            <a:ext cx="1975104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566661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9792" y="30815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79792" y="3630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grid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37776" y="2788920"/>
            <a:ext cx="1975104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86000"/>
            </a:srgbClr>
          </a:solidFill>
          <a:ln w="25400">
            <a:solidFill>
              <a:srgbClr val="009E88">
                <a:alpha val="9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29216" y="30815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ATTEST + LEARN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29216" y="3630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Mantle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33472" y="3497580"/>
            <a:ext cx="237744" cy="0"/>
          </a:xfrm>
          <a:prstGeom prst="line">
            <a:avLst/>
          </a:prstGeom>
          <a:noFill/>
          <a:ln w="28575">
            <a:solidFill>
              <a:srgbClr val="0B6E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82896" y="3497580"/>
            <a:ext cx="237744" cy="0"/>
          </a:xfrm>
          <a:prstGeom prst="line">
            <a:avLst/>
          </a:prstGeom>
          <a:noFill/>
          <a:ln w="28575">
            <a:solidFill>
              <a:srgbClr val="0B6E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3497580"/>
            <a:ext cx="237744" cy="0"/>
          </a:xfrm>
          <a:prstGeom prst="line">
            <a:avLst/>
          </a:prstGeom>
          <a:noFill/>
          <a:ln w="28575">
            <a:solidFill>
              <a:srgbClr val="0B6E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81744" y="3497580"/>
            <a:ext cx="237744" cy="0"/>
          </a:xfrm>
          <a:prstGeom prst="line">
            <a:avLst/>
          </a:prstGeom>
          <a:noFill/>
          <a:ln w="28575">
            <a:solidFill>
              <a:srgbClr val="0B6E6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627632" y="4709160"/>
            <a:ext cx="8997696" cy="0"/>
          </a:xfrm>
          <a:prstGeom prst="line">
            <a:avLst/>
          </a:prstGeom>
          <a:noFill/>
          <a:ln w="22225">
            <a:solidFill>
              <a:srgbClr val="009E88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2743200" y="47731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every episode — winrate compounds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78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on-chain record does three jobs:  </a:t>
            </a:r>
            <a:pPr indent="0" marL="0">
              <a:buNone/>
            </a:pPr>
            <a:r>
              <a:rPr lang="en-US" sz="15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(recall) · strategy (learn) · verification (audit).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memory is the strategy brain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4160520"/>
          </a:xfrm>
          <a:prstGeom prst="roundRect">
            <a:avLst>
              <a:gd name="adj" fmla="val 3516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201168" cy="201168"/>
          </a:xfrm>
          <a:prstGeom prst="ellipse">
            <a:avLst/>
          </a:prstGeom>
          <a:solidFill>
            <a:srgbClr val="009E8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94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verified episodes for the current regime.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456432"/>
            <a:ext cx="201168" cy="201168"/>
          </a:xfrm>
          <a:prstGeom prst="ellipse">
            <a:avLst/>
          </a:prstGeom>
          <a:solidFill>
            <a:srgbClr val="009E88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7398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records train the policy — it learns.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626864"/>
            <a:ext cx="201168" cy="201168"/>
          </a:xfrm>
          <a:prstGeom prst="ellipse">
            <a:avLst/>
          </a:prstGeom>
          <a:solidFill>
            <a:srgbClr val="009E8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535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9103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+ attest: nothing is a black box.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 AI: same market — memory-on wins.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0" y="1874520"/>
            <a:ext cx="5577840" cy="4160520"/>
          </a:xfrm>
          <a:prstGeom prst="roundRect">
            <a:avLst>
              <a:gd name="adj" fmla="val 3516"/>
            </a:avLst>
          </a:prstGeom>
          <a:solidFill>
            <a:srgbClr val="FFFFFF">
              <a:alpha val="88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graphicFrame>
        <p:nvGraphicFramePr>
          <p:cNvPr id="16" name="Chart 0" descr=""/>
          <p:cNvGraphicFramePr/>
          <p:nvPr/>
        </p:nvGraphicFramePr>
        <p:xfrm>
          <a:off x="6126480" y="2148840"/>
          <a:ext cx="52120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4"/>
          <p:cNvSpPr/>
          <p:nvPr/>
        </p:nvSpPr>
        <p:spPr>
          <a:xfrm>
            <a:off x="612648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(indexed = 100) · illustrative; substantiated live by the ablation demo.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MANTLE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Mantle’s CeDeFi thesis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4160520" cy="2286000"/>
          </a:xfrm>
          <a:prstGeom prst="roundRect">
            <a:avLst>
              <a:gd name="adj" fmla="val 6400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688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BYBIT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CEX liquidity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venue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2148840"/>
            <a:ext cx="4160520" cy="2286000"/>
          </a:xfrm>
          <a:prstGeom prst="roundRect">
            <a:avLst>
              <a:gd name="adj" fmla="val 6400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24688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306324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learning · on-chain grid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agent’s brain + proof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3291840"/>
            <a:ext cx="2286000" cy="0"/>
          </a:xfrm>
          <a:prstGeom prst="line">
            <a:avLst/>
          </a:prstGeom>
          <a:noFill/>
          <a:ln w="38100">
            <a:solidFill>
              <a:srgbClr val="009E88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3035808"/>
            <a:ext cx="1280160" cy="512064"/>
          </a:xfrm>
          <a:prstGeom prst="roundRect">
            <a:avLst>
              <a:gd name="adj" fmla="val 50000"/>
            </a:avLst>
          </a:prstGeom>
          <a:solidFill>
            <a:srgbClr val="009E88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30358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Perps Agent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3584448" cy="1554480"/>
          </a:xfrm>
          <a:prstGeom prst="roundRect">
            <a:avLst>
              <a:gd name="adj" fmla="val 8235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gas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3766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every episode on-chain is only affordable on Mantle.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1688" y="4800600"/>
            <a:ext cx="3584448" cy="1554480"/>
          </a:xfrm>
          <a:prstGeom prst="roundRect">
            <a:avLst>
              <a:gd name="adj" fmla="val 8235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0288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CeDeFi flow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0288" y="53766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 ⇄ Mantle ⇄ Byreal Super Portal — we embody it for retail.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83296" y="4800600"/>
            <a:ext cx="3584448" cy="1554480"/>
          </a:xfrm>
          <a:prstGeom prst="roundRect">
            <a:avLst>
              <a:gd name="adj" fmla="val 8235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11896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DeFi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11896" y="53766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grid on iZiSwap; Vault in mETH / USDe; x402 in USDC.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charge for the system, not your PnL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3063240"/>
          </a:xfrm>
          <a:prstGeom prst="roundRect">
            <a:avLst>
              <a:gd name="adj" fmla="val 4776"/>
            </a:avLst>
          </a:prstGeom>
          <a:solidFill>
            <a:srgbClr val="FFFFFF">
              <a:alpha val="72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C2A8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 fee / transaction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52044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% of each trade we route (e.g. &lt;=0.5%, calibrated low for frequent grids). Volume-based, settled on-chain — never a cut of your PnL.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212080" cy="3063240"/>
          </a:xfrm>
          <a:prstGeom prst="roundRect">
            <a:avLst>
              <a:gd name="adj" fmla="val 4776"/>
            </a:avLst>
          </a:prstGeom>
          <a:solidFill>
            <a:srgbClr val="FFFFFF">
              <a:alpha val="72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402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C2A8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240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01968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x402 alpha API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01968" y="352044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verified StrategyMemory + signals per call — agents pay USDC on-chain, no accounts, no lock-in.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899648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80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5257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production-grade (deltaperps lineage).  </a:t>
            </a:r>
            <a:pPr indent="0" marL="0">
              <a:buNone/>
            </a:pPr>
            <a:r>
              <a:rPr lang="en-US" sz="14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use — no subscription. On-ethos for BGA: better systems, not extraction.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B6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WINS — &amp; WHAT’S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Provable by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4103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Scores where BGA cares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2798064"/>
            <a:ext cx="201168" cy="201168"/>
          </a:xfrm>
          <a:prstGeom prst="ellipse">
            <a:avLst/>
          </a:prstGeom>
          <a:solidFill>
            <a:srgbClr val="009E88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7.5  </a:t>
            </a:r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maxed by construction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3575304"/>
            <a:ext cx="201168" cy="201168"/>
          </a:xfrm>
          <a:prstGeom prst="ellipse">
            <a:avLst/>
          </a:prstGeom>
          <a:solidFill>
            <a:srgbClr val="009E88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</a:t>
            </a:r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on-chain experience replay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4352544"/>
            <a:ext cx="201168" cy="201168"/>
          </a:xfrm>
          <a:prstGeom prst="ellipse">
            <a:avLst/>
          </a:prstGeom>
          <a:solidFill>
            <a:srgbClr val="009E88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BGA ethos  </a:t>
            </a:r>
            <a:pPr indent="0" marL="0">
              <a:buNone/>
            </a:pPr>
            <a:r>
              <a:rPr lang="en-US" sz="1400" dirty="0">
                <a:solidFill>
                  <a:srgbClr val="56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cuts retail info asymmetry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4103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4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to Demo Day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46520" y="2743200"/>
            <a:ext cx="713232" cy="502920"/>
          </a:xfrm>
          <a:prstGeom prst="roundRect">
            <a:avLst>
              <a:gd name="adj" fmla="val 21818"/>
            </a:avLst>
          </a:prstGeom>
          <a:solidFill>
            <a:srgbClr val="0B6E63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74320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2743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Spine: Bybit adapter + engine + Ledger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401568"/>
            <a:ext cx="713232" cy="502920"/>
          </a:xfrm>
          <a:prstGeom prst="roundRect">
            <a:avLst>
              <a:gd name="adj" fmla="val 21818"/>
            </a:avLst>
          </a:prstGeom>
          <a:solidFill>
            <a:srgbClr val="0B6E63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40156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3401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Brain: StrategyMemory + agent loop (L1)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4059936"/>
            <a:ext cx="713232" cy="502920"/>
          </a:xfrm>
          <a:prstGeom prst="roundRect">
            <a:avLst>
              <a:gd name="adj" fmla="val 21818"/>
            </a:avLst>
          </a:prstGeom>
          <a:solidFill>
            <a:srgbClr val="0B6E63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059936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0599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+ iZiSwap on-chain grid + learning (L2)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4718304"/>
            <a:ext cx="713232" cy="502920"/>
          </a:xfrm>
          <a:prstGeom prst="roundRect">
            <a:avLst>
              <a:gd name="adj" fmla="val 21818"/>
            </a:avLst>
          </a:prstGeom>
          <a:solidFill>
            <a:srgbClr val="0B6E63"/>
          </a:solidFill>
          <a:ln/>
          <a:effectLst>
            <a:outerShdw sx="100000" sy="100000" kx="0" ky="0" algn="bl" rotWithShape="0" blurRad="101600" dist="38100" dir="8100000">
              <a:srgbClr val="0B3B33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4718304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47183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demo + Verifier + deploy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899648" cy="868680"/>
          </a:xfrm>
          <a:prstGeom prst="roundRect">
            <a:avLst>
              <a:gd name="adj" fmla="val 14737"/>
            </a:avLst>
          </a:prstGeom>
          <a:solidFill>
            <a:srgbClr val="FFFFFF">
              <a:alpha val="84000"/>
            </a:srgbClr>
          </a:solidFill>
          <a:ln w="15875">
            <a:solidFill>
              <a:srgbClr val="FFFFFF">
                <a:alpha val="82000"/>
              </a:srgbClr>
            </a:solidFill>
            <a:prstDash val="solid"/>
          </a:ln>
          <a:effectLst>
            <a:outerShdw sx="100000" sy="100000" kx="0" ky="0" algn="bl" rotWithShape="0" blurRad="177800" dist="63500" dir="8100000">
              <a:srgbClr val="0B3B33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L1 + L2 + on-chain grid by Jul 2–3.  </a:t>
            </a:r>
            <a:pPr indent="0" marL="0">
              <a:buNone/>
            </a:pPr>
            <a:r>
              <a:rPr lang="en-US" sz="1500" b="1" dirty="0">
                <a:solidFill>
                  <a:srgbClr val="0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Elfa · Nansen · Surf / AltLLM credits.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Perps Agent — Pitch</dc:title>
  <dc:subject>PptxGenJS Presentation</dc:subject>
  <dc:creator>Perps Agent</dc:creator>
  <cp:lastModifiedBy>Perps Agent</cp:lastModifiedBy>
  <cp:revision>1</cp:revision>
  <dcterms:created xsi:type="dcterms:W3CDTF">2026-06-04T16:42:25Z</dcterms:created>
  <dcterms:modified xsi:type="dcterms:W3CDTF">2026-06-04T16:42:25Z</dcterms:modified>
</cp:coreProperties>
</file>